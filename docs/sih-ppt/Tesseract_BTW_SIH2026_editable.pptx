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Tesseract BTW — Title Page. All text boxes, cards and table cells are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Tesseract BTW — Proposed Solution. All text boxes, cards and table cells are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Tesseract BTW — Technical Approach. All text boxes, cards and table cells are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Tesseract BTW — Feasibility &amp; Viability. All text boxes, cards and table cells are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Tesseract BTW — Impacts and Benefits. All text boxes, cards and table cells are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Tesseract BTW — Research &amp; References. All text boxes, cards and table cells are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0000" y="254000"/>
            <a:ext cx="9652000" cy="355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02A56"/>
                </a:solidFill>
                <a:latin typeface="Georgia"/>
              </a:rP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0000" y="609600"/>
            <a:ext cx="9652000" cy="254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1616"/>
                </a:solidFill>
                <a:latin typeface="Georgia"/>
              </a:rPr>
              <a:t>TITLE PAGE</a:t>
            </a:r>
          </a:p>
        </p:txBody>
      </p:sp>
      <p:pic>
        <p:nvPicPr>
          <p:cNvPr id="4" name="Picture 3" descr="sih-icon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3800" y="152400"/>
            <a:ext cx="457200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66400" y="177800"/>
            <a:ext cx="1460500" cy="5715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A56"/>
                </a:solidFill>
                <a:latin typeface="Calibri"/>
              </a:rPr>
              <a:t>SMART INDIA
HACKATHON
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1333500"/>
            <a:ext cx="228600" cy="254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02A56"/>
                </a:solidFill>
                <a:latin typeface="Calibr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1333500"/>
            <a:ext cx="6985000" cy="330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1616"/>
                </a:solidFill>
                <a:latin typeface="Calibri"/>
              </a:rPr>
              <a:t>Problem Statement ID  —  </a:t>
            </a:r>
            <a:r>
              <a:rPr sz="1800" b="1" i="0">
                <a:solidFill>
                  <a:srgbClr val="1E6E36"/>
                </a:solidFill>
                <a:latin typeface="Calibri"/>
              </a:rPr>
              <a:t>26171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714500"/>
            <a:ext cx="228600" cy="254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02A56"/>
                </a:solidFill>
                <a:latin typeface="Calibr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" y="1714500"/>
            <a:ext cx="6985000" cy="609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1616"/>
                </a:solidFill>
                <a:latin typeface="Calibri"/>
              </a:rPr>
              <a:t>Problem Statement Title  —  </a:t>
            </a:r>
            <a:r>
              <a:rPr sz="1800" b="1" i="0">
                <a:solidFill>
                  <a:srgbClr val="D66E14"/>
                </a:solidFill>
                <a:latin typeface="Calibri"/>
              </a:rPr>
              <a:t>On-device Visual Perception for Light-weight Browser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500" y="2374900"/>
            <a:ext cx="228600" cy="254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02A56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" y="2374900"/>
            <a:ext cx="6985000" cy="330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1616"/>
                </a:solidFill>
                <a:latin typeface="Calibri"/>
              </a:rPr>
              <a:t>Organisation  —  </a:t>
            </a:r>
            <a:r>
              <a:rPr sz="1800" b="1" i="0">
                <a:solidFill>
                  <a:srgbClr val="161616"/>
                </a:solidFill>
                <a:latin typeface="Calibri"/>
              </a:rPr>
              <a:t>Indian Space Research Organisation (ISRO)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500" y="2755900"/>
            <a:ext cx="228600" cy="254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02A56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" y="2755900"/>
            <a:ext cx="6985000" cy="330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1616"/>
                </a:solidFill>
                <a:latin typeface="Calibri"/>
              </a:rPr>
              <a:t>Theme  —  </a:t>
            </a:r>
            <a:r>
              <a:rPr sz="1800" b="1" i="0">
                <a:solidFill>
                  <a:srgbClr val="161616"/>
                </a:solidFill>
                <a:latin typeface="Calibri"/>
              </a:rPr>
              <a:t>Smart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500" y="3136900"/>
            <a:ext cx="228600" cy="254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02A56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" y="3136900"/>
            <a:ext cx="6985000" cy="330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1616"/>
                </a:solidFill>
                <a:latin typeface="Calibri"/>
              </a:rPr>
              <a:t>PS Category  —  </a:t>
            </a:r>
            <a:r>
              <a:rPr sz="1800" b="1" i="0">
                <a:solidFill>
                  <a:srgbClr val="161616"/>
                </a:solidFill>
                <a:latin typeface="Calibri"/>
              </a:rPr>
              <a:t>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500" y="3517900"/>
            <a:ext cx="228600" cy="254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02A56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" y="3517900"/>
            <a:ext cx="6985000" cy="330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1616"/>
                </a:solidFill>
                <a:latin typeface="Calibri"/>
              </a:rPr>
              <a:t>Team ID  —  </a:t>
            </a:r>
            <a:r>
              <a:rPr sz="1800" b="1" i="0">
                <a:solidFill>
                  <a:srgbClr val="161616"/>
                </a:solidFill>
                <a:latin typeface="Calibr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500" y="3898900"/>
            <a:ext cx="228600" cy="254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02A56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500" y="3898900"/>
            <a:ext cx="6985000" cy="330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1616"/>
                </a:solidFill>
                <a:latin typeface="Calibri"/>
              </a:rPr>
              <a:t>Team Name  :  </a:t>
            </a:r>
            <a:r>
              <a:rPr sz="1800" b="1" i="0">
                <a:solidFill>
                  <a:srgbClr val="102A56"/>
                </a:solidFill>
                <a:latin typeface="Calibri"/>
              </a:rPr>
              <a:t>Tesseract BTW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500" y="4826000"/>
            <a:ext cx="6985000" cy="228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A56"/>
                </a:solidFill>
                <a:latin typeface="Calibri"/>
              </a:rPr>
              <a:t>Privacy-Preserving Browser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500" y="5080000"/>
            <a:ext cx="6985000" cy="4445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252"/>
                </a:solidFill>
                <a:latin typeface="Calibri"/>
              </a:rPr>
              <a:t>A local privacy proxy between the webpage and the reasoning model — on-device perception, redaction before the network, constrained actions after.</a:t>
            </a:r>
          </a:p>
        </p:txBody>
      </p:sp>
      <p:pic>
        <p:nvPicPr>
          <p:cNvPr id="22" name="Picture 21" descr="sih-icon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9" y="1270000"/>
            <a:ext cx="3302000" cy="4064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46100" y="6223000"/>
            <a:ext cx="6985000" cy="355600"/>
          </a:xfrm>
          <a:prstGeom prst="roundRect">
            <a:avLst>
              <a:gd name="adj" fmla="val 30000"/>
            </a:avLst>
          </a:prstGeom>
          <a:solidFill>
            <a:srgbClr val="10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Chrome extension  ·  On-device redaction  ·  Constrained browser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seract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5100"/>
            <a:ext cx="444500" cy="444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177800"/>
            <a:ext cx="2667000" cy="228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A56"/>
                </a:solidFill>
                <a:latin typeface="Calibri"/>
              </a:rPr>
              <a:t>TESSERACT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93700"/>
            <a:ext cx="3302000" cy="177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18825"/>
                </a:solidFill>
                <a:latin typeface="Calibri"/>
              </a:rPr>
              <a:t>LOCAL PRIVACY.  REMOTE REASONING.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02000" y="203200"/>
            <a:ext cx="5588000" cy="304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616"/>
                </a:solidFill>
                <a:latin typeface="Calibri"/>
              </a:rPr>
              <a:t>PROPOSED SOLUTION</a:t>
            </a:r>
          </a:p>
        </p:txBody>
      </p:sp>
      <p:pic>
        <p:nvPicPr>
          <p:cNvPr id="6" name="Picture 5" descr="sih-icon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3800" y="101600"/>
            <a:ext cx="457200" cy="55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66400" y="101600"/>
            <a:ext cx="1460500" cy="558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A56"/>
                </a:solidFill>
                <a:latin typeface="Calibri"/>
              </a:rPr>
              <a:t>SMART INDIA
HACKATHON
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711200"/>
            <a:ext cx="11582400" cy="12700"/>
          </a:xfrm>
          <a:prstGeom prst="rect">
            <a:avLst/>
          </a:prstGeom>
          <a:solidFill>
            <a:srgbClr val="DC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4000" y="812800"/>
            <a:ext cx="3302000" cy="1016000"/>
          </a:xfrm>
          <a:prstGeom prst="roundRect">
            <a:avLst>
              <a:gd name="adj" fmla="val 8000"/>
            </a:avLst>
          </a:prstGeom>
          <a:solidFill>
            <a:srgbClr val="E2F4E4"/>
          </a:solidFill>
          <a:ln w="19050">
            <a:solidFill>
              <a:srgbClr val="48A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56"/>
                </a:solidFill>
                <a:latin typeface="Calibri"/>
              </a:rPr>
              <a:t>1. Local Visual Perception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Calibri"/>
              </a:rPr>
              <a:t>On-device YuNet face detection plus DOM-first screen reading. The raw screenshot never leaves the machine.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000" y="1917700"/>
            <a:ext cx="3302000" cy="1016000"/>
          </a:xfrm>
          <a:prstGeom prst="roundRect">
            <a:avLst>
              <a:gd name="adj" fmla="val 8000"/>
            </a:avLst>
          </a:prstGeom>
          <a:solidFill>
            <a:srgbClr val="E2F4E4"/>
          </a:solidFill>
          <a:ln w="19050">
            <a:solidFill>
              <a:srgbClr val="48A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56"/>
                </a:solidFill>
                <a:latin typeface="Calibri"/>
              </a:rPr>
              <a:t>2. Layered PII Detection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Calibri"/>
              </a:rPr>
              <a:t>Field purpose, checksum validators for Aadhaar / PAN / GSTIN / cards, then English NER only where regex fails.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000" y="3022600"/>
            <a:ext cx="3302000" cy="1016000"/>
          </a:xfrm>
          <a:prstGeom prst="roundRect">
            <a:avLst>
              <a:gd name="adj" fmla="val 8000"/>
            </a:avLst>
          </a:prstGeom>
          <a:solidFill>
            <a:srgbClr val="E2F4E4"/>
          </a:solidFill>
          <a:ln w="19050">
            <a:solidFill>
              <a:srgbClr val="48A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56"/>
                </a:solidFill>
                <a:latin typeface="Calibri"/>
              </a:rPr>
              <a:t>3. Privacy-Preserving Filter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Calibri"/>
              </a:rPr>
              <a:t>Typed placeholders, padded black-box masks, one-way password / OTP / CVV tokens. Vault stays in the tab.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000" y="4127500"/>
            <a:ext cx="3302000" cy="1016000"/>
          </a:xfrm>
          <a:prstGeom prst="roundRect">
            <a:avLst>
              <a:gd name="adj" fmla="val 8000"/>
            </a:avLst>
          </a:prstGeom>
          <a:solidFill>
            <a:srgbClr val="E2F4E4"/>
          </a:solidFill>
          <a:ln w="19050">
            <a:solidFill>
              <a:srgbClr val="48A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56"/>
                </a:solidFill>
                <a:latin typeface="Calibri"/>
              </a:rPr>
              <a:t>4. Constrained Browser Agent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Calibri"/>
              </a:rPr>
              <a:t>Closed action vocabulary, current element ids, user approval for submit / purchase. No model-written JavaScript.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4000" y="5232400"/>
            <a:ext cx="3302000" cy="1016000"/>
          </a:xfrm>
          <a:prstGeom prst="roundRect">
            <a:avLst>
              <a:gd name="adj" fmla="val 8000"/>
            </a:avLst>
          </a:prstGeom>
          <a:solidFill>
            <a:srgbClr val="E2F4E4"/>
          </a:solidFill>
          <a:ln w="19050">
            <a:solidFill>
              <a:srgbClr val="48A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56"/>
                </a:solidFill>
                <a:latin typeface="Calibri"/>
              </a:rPr>
              <a:t>5. Sanitized Server Planning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Calibri"/>
              </a:rPr>
              <a:t>Only anonymized context reaches the LLM. The server returns click, type and scroll — never secrets.</a:t>
            </a:r>
          </a:p>
        </p:txBody>
      </p:sp>
      <p:pic>
        <p:nvPicPr>
          <p:cNvPr id="14" name="Picture 13" descr="problem-rea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8400" y="812800"/>
            <a:ext cx="5613400" cy="1905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708400" y="812800"/>
            <a:ext cx="5613400" cy="444500"/>
          </a:xfrm>
          <a:prstGeom prst="rect">
            <a:avLst/>
          </a:prstGeom>
          <a:solidFill>
            <a:srgbClr val="0A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18825"/>
                </a:solidFill>
                <a:latin typeface="Calibri"/>
              </a:rPr>
              <a:t>THE REALITY TODAY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Cloud agents see Aadhaar, PAN, faces, passwords and bank fields on the live screen.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8400" y="2717800"/>
            <a:ext cx="5613400" cy="266700"/>
          </a:xfrm>
          <a:prstGeom prst="rect">
            <a:avLst/>
          </a:prstGeom>
          <a:solidFill>
            <a:srgbClr val="0A1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RAW SCREEN  ·  RAW PII  ·  RAW TRUST 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8400" y="3086100"/>
            <a:ext cx="5613400" cy="36830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  BENEFITS   </a:t>
            </a:r>
            <a:r>
              <a:rPr sz="1200" b="1" i="0">
                <a:solidFill>
                  <a:srgbClr val="E2F4E4"/>
                </a:solidFill>
                <a:latin typeface="Segoe UI Symbol"/>
              </a:rPr>
              <a:t>  ✓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PII stays local   </a:t>
            </a:r>
            <a:r>
              <a:rPr sz="1200" b="1" i="0">
                <a:solidFill>
                  <a:srgbClr val="E2F4E4"/>
                </a:solidFill>
                <a:latin typeface="Segoe UI Symbol"/>
              </a:rPr>
              <a:t>  ✓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Checksum IDs   </a:t>
            </a:r>
            <a:r>
              <a:rPr sz="1200" b="1" i="0">
                <a:solidFill>
                  <a:srgbClr val="E2F4E4"/>
                </a:solidFill>
                <a:latin typeface="Segoe UI Symbol"/>
              </a:rPr>
              <a:t>  ✓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Face masks   </a:t>
            </a:r>
            <a:r>
              <a:rPr sz="1200" b="1" i="0">
                <a:solidFill>
                  <a:srgbClr val="E2F4E4"/>
                </a:solidFill>
                <a:latin typeface="Segoe UI Symbol"/>
              </a:rPr>
              <a:t>  ✓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Closed actions   </a:t>
            </a:r>
            <a:r>
              <a:rPr sz="1200" b="1" i="0">
                <a:solidFill>
                  <a:srgbClr val="E2F4E4"/>
                </a:solidFill>
                <a:latin typeface="Segoe UI Symbol"/>
              </a:rPr>
              <a:t>  ✓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DPDP-aligned   </a:t>
            </a:r>
          </a:p>
        </p:txBody>
      </p:sp>
      <p:pic>
        <p:nvPicPr>
          <p:cNvPr id="18" name="Picture 17" descr="ui-analyz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8400" y="3556000"/>
            <a:ext cx="1778000" cy="24765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708400" y="6032500"/>
            <a:ext cx="1778000" cy="27940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ANALYZE PAGE</a:t>
            </a:r>
          </a:p>
        </p:txBody>
      </p:sp>
      <p:pic>
        <p:nvPicPr>
          <p:cNvPr id="20" name="Picture 19" descr="ui-sanitiz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700" y="3556000"/>
            <a:ext cx="1778000" cy="24765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600700" y="6032500"/>
            <a:ext cx="1778000" cy="27940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SANITIZED SCREEN</a:t>
            </a:r>
          </a:p>
        </p:txBody>
      </p:sp>
      <p:pic>
        <p:nvPicPr>
          <p:cNvPr id="22" name="Picture 21" descr="ui-acti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3000" y="3556000"/>
            <a:ext cx="1778000" cy="24765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493000" y="6032500"/>
            <a:ext cx="1778000" cy="27940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VALIDATED ACTIONS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5000" y="812800"/>
            <a:ext cx="2413000" cy="5816600"/>
          </a:xfrm>
          <a:prstGeom prst="roundRect">
            <a:avLst>
              <a:gd name="adj" fmla="val 6000"/>
            </a:avLst>
          </a:prstGeom>
          <a:solidFill>
            <a:srgbClr val="8A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CURRENT CHALLENGES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52000" y="1270000"/>
            <a:ext cx="2159000" cy="749300"/>
          </a:xfrm>
          <a:prstGeom prst="roundRect">
            <a:avLst>
              <a:gd name="adj" fmla="val 10000"/>
            </a:avLst>
          </a:prstGeom>
          <a:solidFill>
            <a:srgbClr val="9E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01  Raw screenshots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E0E0"/>
                </a:solidFill>
                <a:latin typeface="Calibri"/>
              </a:rPr>
              <a:t>Cloud GUI agents upload the live screen, secrets included.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52000" y="2082800"/>
            <a:ext cx="2159000" cy="749300"/>
          </a:xfrm>
          <a:prstGeom prst="roundRect">
            <a:avLst>
              <a:gd name="adj" fmla="val 10000"/>
            </a:avLst>
          </a:prstGeom>
          <a:solidFill>
            <a:srgbClr val="9E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02  Indian identifiers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E0E0"/>
                </a:solidFill>
                <a:latin typeface="Calibri"/>
              </a:rPr>
              <a:t>Aadhaar, PAN, GSTIN and UPI sit in ordinary page text.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52000" y="2895600"/>
            <a:ext cx="2159000" cy="749300"/>
          </a:xfrm>
          <a:prstGeom prst="roundRect">
            <a:avLst>
              <a:gd name="adj" fmla="val 10000"/>
            </a:avLst>
          </a:prstGeom>
          <a:solidFill>
            <a:srgbClr val="9E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03  Faces &amp; documents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E0E0"/>
                </a:solidFill>
                <a:latin typeface="Calibri"/>
              </a:rPr>
              <a:t>Portraits and ID photos leak through pixel pipelines.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52000" y="3708400"/>
            <a:ext cx="2159000" cy="749300"/>
          </a:xfrm>
          <a:prstGeom prst="roundRect">
            <a:avLst>
              <a:gd name="adj" fmla="val 10000"/>
            </a:avLst>
          </a:prstGeom>
          <a:solidFill>
            <a:srgbClr val="9E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04  Unconstrained actions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E0E0"/>
                </a:solidFill>
                <a:latin typeface="Calibri"/>
              </a:rPr>
              <a:t>A model that can run JS can exfiltrate or destroy data.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52000" y="4521200"/>
            <a:ext cx="2159000" cy="749300"/>
          </a:xfrm>
          <a:prstGeom prst="roundRect">
            <a:avLst>
              <a:gd name="adj" fmla="val 10000"/>
            </a:avLst>
          </a:prstGeom>
          <a:solidFill>
            <a:srgbClr val="9E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05  Browser budget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E0E0"/>
                </a:solidFill>
                <a:latin typeface="Calibri"/>
              </a:rPr>
              <a:t>A full VLM will not fit; latency and RAM are real limits.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52000" y="5334000"/>
            <a:ext cx="2159000" cy="749300"/>
          </a:xfrm>
          <a:prstGeom prst="roundRect">
            <a:avLst>
              <a:gd name="adj" fmla="val 10000"/>
            </a:avLst>
          </a:prstGeom>
          <a:solidFill>
            <a:srgbClr val="9E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06  Trust gap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E0E0"/>
                </a:solidFill>
                <a:latin typeface="Calibri"/>
              </a:rPr>
              <a:t>Users will not adopt agents that treat PII as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seract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5100"/>
            <a:ext cx="444500" cy="444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177800"/>
            <a:ext cx="2667000" cy="228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A56"/>
                </a:solidFill>
                <a:latin typeface="Calibri"/>
              </a:rPr>
              <a:t>TESSERACT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93700"/>
            <a:ext cx="3302000" cy="177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18825"/>
                </a:solidFill>
                <a:latin typeface="Calibri"/>
              </a:rPr>
              <a:t>LOCAL PRIVACY.  REMOTE REASONING.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02000" y="203200"/>
            <a:ext cx="5588000" cy="304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616"/>
                </a:solidFill>
                <a:latin typeface="Calibri"/>
              </a:rPr>
              <a:t>Technical Approach</a:t>
            </a:r>
          </a:p>
        </p:txBody>
      </p:sp>
      <p:pic>
        <p:nvPicPr>
          <p:cNvPr id="6" name="Picture 5" descr="sih-icon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3800" y="101600"/>
            <a:ext cx="457200" cy="55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66400" y="101600"/>
            <a:ext cx="1460500" cy="558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A56"/>
                </a:solidFill>
                <a:latin typeface="Calibri"/>
              </a:rPr>
              <a:t>SMART INDIA
HACKATHON
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711200"/>
            <a:ext cx="11582400" cy="12700"/>
          </a:xfrm>
          <a:prstGeom prst="rect">
            <a:avLst/>
          </a:prstGeom>
          <a:solidFill>
            <a:srgbClr val="DC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800" y="787400"/>
            <a:ext cx="4445000" cy="203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A56"/>
                </a:solidFill>
                <a:latin typeface="Calibri"/>
              </a:rPr>
              <a:t>SYSTEM WORKFLOW</a:t>
            </a:r>
          </a:p>
        </p:txBody>
      </p:sp>
      <p:sp>
        <p:nvSpPr>
          <p:cNvPr id="10" name="Oval 9"/>
          <p:cNvSpPr/>
          <p:nvPr/>
        </p:nvSpPr>
        <p:spPr>
          <a:xfrm>
            <a:off x="355600" y="1066800"/>
            <a:ext cx="228600" cy="228600"/>
          </a:xfrm>
          <a:prstGeom prst="ellipse">
            <a:avLst/>
          </a:prstGeom>
          <a:solidFill>
            <a:srgbClr val="278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016000"/>
            <a:ext cx="4064000" cy="431800"/>
          </a:xfrm>
          <a:prstGeom prst="roundRect">
            <a:avLst>
              <a:gd name="adj" fmla="val 12000"/>
            </a:avLst>
          </a:prstGeom>
          <a:solidFill>
            <a:srgbClr val="FAFBFC"/>
          </a:solidFill>
          <a:ln w="19050">
            <a:solidFill>
              <a:srgbClr val="DC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616"/>
                </a:solidFill>
                <a:latin typeface="Calibri"/>
              </a:rPr>
              <a:t>1. User starts Analyze or Run agent from the popup.</a:t>
            </a:r>
          </a:p>
        </p:txBody>
      </p:sp>
      <p:sp>
        <p:nvSpPr>
          <p:cNvPr id="12" name="Oval 11"/>
          <p:cNvSpPr/>
          <p:nvPr/>
        </p:nvSpPr>
        <p:spPr>
          <a:xfrm>
            <a:off x="355600" y="1549400"/>
            <a:ext cx="228600" cy="228600"/>
          </a:xfrm>
          <a:prstGeom prst="ellipse">
            <a:avLst/>
          </a:prstGeom>
          <a:solidFill>
            <a:srgbClr val="278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498600"/>
            <a:ext cx="4064000" cy="431800"/>
          </a:xfrm>
          <a:prstGeom prst="roundRect">
            <a:avLst>
              <a:gd name="adj" fmla="val 12000"/>
            </a:avLst>
          </a:prstGeom>
          <a:solidFill>
            <a:srgbClr val="FAFBFC"/>
          </a:solidFill>
          <a:ln w="19050">
            <a:solidFill>
              <a:srgbClr val="DC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616"/>
                </a:solidFill>
                <a:latin typeface="Calibri"/>
              </a:rPr>
              <a:t>2. Service worker injects the content script on demand — never on every page load.</a:t>
            </a:r>
          </a:p>
        </p:txBody>
      </p:sp>
      <p:sp>
        <p:nvSpPr>
          <p:cNvPr id="14" name="Oval 13"/>
          <p:cNvSpPr/>
          <p:nvPr/>
        </p:nvSpPr>
        <p:spPr>
          <a:xfrm>
            <a:off x="355600" y="2032000"/>
            <a:ext cx="228600" cy="228600"/>
          </a:xfrm>
          <a:prstGeom prst="ellipse">
            <a:avLst/>
          </a:prstGeom>
          <a:solidFill>
            <a:srgbClr val="278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1981199"/>
            <a:ext cx="4064000" cy="431800"/>
          </a:xfrm>
          <a:prstGeom prst="roundRect">
            <a:avLst>
              <a:gd name="adj" fmla="val 12000"/>
            </a:avLst>
          </a:prstGeom>
          <a:solidFill>
            <a:srgbClr val="FAFBFC"/>
          </a:solidFill>
          <a:ln w="19050">
            <a:solidFill>
              <a:srgbClr val="DC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616"/>
                </a:solidFill>
                <a:latin typeface="Calibri"/>
              </a:rPr>
              <a:t>3. Visible DOM is extracted with stable element_N ids.</a:t>
            </a:r>
          </a:p>
        </p:txBody>
      </p:sp>
      <p:sp>
        <p:nvSpPr>
          <p:cNvPr id="16" name="Oval 15"/>
          <p:cNvSpPr/>
          <p:nvPr/>
        </p:nvSpPr>
        <p:spPr>
          <a:xfrm>
            <a:off x="355600" y="2514600"/>
            <a:ext cx="228600" cy="228600"/>
          </a:xfrm>
          <a:prstGeom prst="ellipse">
            <a:avLst/>
          </a:prstGeom>
          <a:solidFill>
            <a:srgbClr val="278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463800"/>
            <a:ext cx="4064000" cy="431800"/>
          </a:xfrm>
          <a:prstGeom prst="roundRect">
            <a:avLst>
              <a:gd name="adj" fmla="val 12000"/>
            </a:avLst>
          </a:prstGeom>
          <a:solidFill>
            <a:srgbClr val="FAFBFC"/>
          </a:solidFill>
          <a:ln w="19050">
            <a:solidFill>
              <a:srgbClr val="DC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616"/>
                </a:solidFill>
                <a:latin typeface="Calibri"/>
              </a:rPr>
              <a:t>4. Rules + checksums redact PII. The vault is minted inside the tab.</a:t>
            </a:r>
          </a:p>
        </p:txBody>
      </p:sp>
      <p:sp>
        <p:nvSpPr>
          <p:cNvPr id="18" name="Oval 17"/>
          <p:cNvSpPr/>
          <p:nvPr/>
        </p:nvSpPr>
        <p:spPr>
          <a:xfrm>
            <a:off x="355600" y="2997200"/>
            <a:ext cx="228600" cy="228600"/>
          </a:xfrm>
          <a:prstGeom prst="ellipse">
            <a:avLst/>
          </a:prstGeom>
          <a:solidFill>
            <a:srgbClr val="278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46400"/>
            <a:ext cx="4064000" cy="431800"/>
          </a:xfrm>
          <a:prstGeom prst="roundRect">
            <a:avLst>
              <a:gd name="adj" fmla="val 12000"/>
            </a:avLst>
          </a:prstGeom>
          <a:solidFill>
            <a:srgbClr val="FAFBFC"/>
          </a:solidFill>
          <a:ln w="19050">
            <a:solidFill>
              <a:srgbClr val="DC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616"/>
                </a:solidFill>
                <a:latin typeface="Calibri"/>
              </a:rPr>
              <a:t>5. Offscreen WASM runs YuNet, DistilBERT NER and selective OCR.</a:t>
            </a:r>
          </a:p>
        </p:txBody>
      </p:sp>
      <p:sp>
        <p:nvSpPr>
          <p:cNvPr id="20" name="Oval 19"/>
          <p:cNvSpPr/>
          <p:nvPr/>
        </p:nvSpPr>
        <p:spPr>
          <a:xfrm>
            <a:off x="355600" y="3479800"/>
            <a:ext cx="228600" cy="228600"/>
          </a:xfrm>
          <a:prstGeom prst="ellipse">
            <a:avLst/>
          </a:prstGeom>
          <a:solidFill>
            <a:srgbClr val="278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29000"/>
            <a:ext cx="4064000" cy="431800"/>
          </a:xfrm>
          <a:prstGeom prst="roundRect">
            <a:avLst>
              <a:gd name="adj" fmla="val 12000"/>
            </a:avLst>
          </a:prstGeom>
          <a:solidFill>
            <a:srgbClr val="FAFBFC"/>
          </a:solidFill>
          <a:ln w="19050">
            <a:solidFill>
              <a:srgbClr val="DC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616"/>
                </a:solidFill>
                <a:latin typeface="Calibri"/>
              </a:rPr>
              <a:t>6. Screenshot sanitizer paints padded black masks for secrets and faces.</a:t>
            </a:r>
          </a:p>
        </p:txBody>
      </p:sp>
      <p:sp>
        <p:nvSpPr>
          <p:cNvPr id="22" name="Oval 21"/>
          <p:cNvSpPr/>
          <p:nvPr/>
        </p:nvSpPr>
        <p:spPr>
          <a:xfrm>
            <a:off x="355600" y="3962399"/>
            <a:ext cx="228600" cy="228600"/>
          </a:xfrm>
          <a:prstGeom prst="ellipse">
            <a:avLst/>
          </a:prstGeom>
          <a:solidFill>
            <a:srgbClr val="278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911600"/>
            <a:ext cx="4064000" cy="431800"/>
          </a:xfrm>
          <a:prstGeom prst="roundRect">
            <a:avLst>
              <a:gd name="adj" fmla="val 12000"/>
            </a:avLst>
          </a:prstGeom>
          <a:solidFill>
            <a:srgbClr val="FAFBFC"/>
          </a:solidFill>
          <a:ln w="19050">
            <a:solidFill>
              <a:srgbClr val="DC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616"/>
                </a:solidFill>
                <a:latin typeface="Calibri"/>
              </a:rPr>
              <a:t>7. Privacy gateway rejects unsanitized or leaking payloads.</a:t>
            </a:r>
          </a:p>
        </p:txBody>
      </p:sp>
      <p:sp>
        <p:nvSpPr>
          <p:cNvPr id="24" name="Oval 23"/>
          <p:cNvSpPr/>
          <p:nvPr/>
        </p:nvSpPr>
        <p:spPr>
          <a:xfrm>
            <a:off x="355600" y="4445000"/>
            <a:ext cx="228600" cy="228600"/>
          </a:xfrm>
          <a:prstGeom prst="ellipse">
            <a:avLst/>
          </a:prstGeom>
          <a:solidFill>
            <a:srgbClr val="278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394200"/>
            <a:ext cx="4064000" cy="431800"/>
          </a:xfrm>
          <a:prstGeom prst="roundRect">
            <a:avLst>
              <a:gd name="adj" fmla="val 12000"/>
            </a:avLst>
          </a:prstGeom>
          <a:solidFill>
            <a:srgbClr val="FAFBFC"/>
          </a:solidFill>
          <a:ln w="19050">
            <a:solidFill>
              <a:srgbClr val="DC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616"/>
                </a:solidFill>
                <a:latin typeface="Calibri"/>
              </a:rPr>
              <a:t>8. LLM returns a closed action list. The extension validates, confirms and applies locally.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4800" y="4953000"/>
            <a:ext cx="4445000" cy="1651000"/>
          </a:xfrm>
          <a:prstGeom prst="roundRect">
            <a:avLst>
              <a:gd name="adj" fmla="val 8000"/>
            </a:avLst>
          </a:prstGeom>
          <a:solidFill>
            <a:srgbClr val="10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TECH STACK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Chrome MV3   ·   Vanilla JS   ·   ONNX Runtime Web   ·   OpenCV YuNet 232 KB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DistilBERT NER q8   ·   Tesseract.js   ·   Express gateway   ·   OpenAI-compatible LLM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Mock provider   ·   Playwright E2E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3000" y="787400"/>
            <a:ext cx="6858000" cy="203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A56"/>
                </a:solidFill>
                <a:latin typeface="Calibri"/>
              </a:rPr>
              <a:t>SMART WORKFLOW OF THE AGENT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53000" y="1041400"/>
            <a:ext cx="2159000" cy="635000"/>
          </a:xfrm>
          <a:prstGeom prst="roundRect">
            <a:avLst>
              <a:gd name="adj" fmla="val 8000"/>
            </a:avLst>
          </a:prstGeom>
          <a:solidFill>
            <a:srgbClr val="10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USER CHANNEL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0F4F8"/>
                </a:solidFill>
                <a:latin typeface="Calibri"/>
              </a:rPr>
              <a:t>Chrome popup · consent · policy toggles · sanitized preview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39000" y="1041400"/>
            <a:ext cx="2159000" cy="635000"/>
          </a:xfrm>
          <a:prstGeom prst="roundRect">
            <a:avLst>
              <a:gd name="adj" fmla="val 8000"/>
            </a:avLst>
          </a:prstGeom>
          <a:solidFill>
            <a:srgbClr val="1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ORCHESTRATOR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0F4F8"/>
                </a:solidFill>
                <a:latin typeface="Calibri"/>
              </a:rPr>
              <a:t>MV3 service worker · inject · capture · agent loop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25000" y="1041400"/>
            <a:ext cx="2413000" cy="635000"/>
          </a:xfrm>
          <a:prstGeom prst="roundRect">
            <a:avLst>
              <a:gd name="adj" fmla="val 8000"/>
            </a:avLst>
          </a:prstGeom>
          <a:solidFill>
            <a:srgbClr val="1E6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PAGE CONTEXT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0F4F8"/>
                </a:solidFill>
                <a:latin typeface="Calibri"/>
              </a:rPr>
              <a:t>Isolated content script · DOM · vault · apply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53000" y="1803400"/>
            <a:ext cx="2921000" cy="762000"/>
          </a:xfrm>
          <a:prstGeom prst="roundRect">
            <a:avLst>
              <a:gd name="adj" fmla="val 8000"/>
            </a:avLst>
          </a:prstGeom>
          <a:solidFill>
            <a:srgbClr val="5C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OFFSCREEN MODELS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0F4F8"/>
                </a:solidFill>
                <a:latin typeface="Calibri"/>
              </a:rPr>
              <a:t>YuNet faces · DistilBERT names · Tesseract OCR · WASM / ONNX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1803400"/>
            <a:ext cx="3937000" cy="762000"/>
          </a:xfrm>
          <a:prstGeom prst="roundRect">
            <a:avLst>
              <a:gd name="adj" fmla="val 8000"/>
            </a:avLst>
          </a:prstGeom>
          <a:solidFill>
            <a:srgbClr val="8A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TRUST BOUNDARY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0F4F8"/>
                </a:solidFill>
                <a:latin typeface="Calibri"/>
              </a:rPr>
              <a:t>Vault never leaves the tab. Passwords / OTP / CVV are one-way tokens. Raw PNG never accepted on the wire.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53000" y="2692400"/>
            <a:ext cx="3302000" cy="762000"/>
          </a:xfrm>
          <a:prstGeom prst="roundRect">
            <a:avLst>
              <a:gd name="adj" fmla="val 8000"/>
            </a:avLst>
          </a:prstGeom>
          <a:solidFill>
            <a:srgbClr val="14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PRIVACY GATEWAY  :4317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0F4F8"/>
                </a:solidFill>
                <a:latin typeface="Calibri"/>
              </a:rPr>
              <a:t>Structural validation · leak scan · branded JPEG · mock or OpenAI-compatible planner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81999" y="2692400"/>
            <a:ext cx="3556000" cy="762000"/>
          </a:xfrm>
          <a:prstGeom prst="roundRect">
            <a:avLst>
              <a:gd name="adj" fmla="val 8000"/>
            </a:avLst>
          </a:prstGeom>
          <a:solidFill>
            <a:srgbClr val="D66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PLANNER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0F4F8"/>
                </a:solidFill>
                <a:latin typeface="Calibri"/>
              </a:rPr>
              <a:t>Closed JSON actions only: click, type, fill_from_vault, scroll, wait, done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53000" y="3581400"/>
            <a:ext cx="6985000" cy="825500"/>
          </a:xfrm>
          <a:prstGeom prst="roundRect">
            <a:avLst>
              <a:gd name="adj" fmla="val 8000"/>
            </a:avLst>
          </a:prstGeom>
          <a:solidFill>
            <a:srgbClr val="244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LOCAL EXECUTION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0F4F8"/>
                </a:solidFill>
                <a:latin typeface="Calibri"/>
              </a:rPr>
              <a:t>Validate ids twice · refuse credential fills · confirm submit/purchase · expand placeholders only inside the isolated world · re-extract each turn (max 6 / 90s)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53000" y="4533900"/>
            <a:ext cx="6985000" cy="20701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9050">
            <a:solidFill>
              <a:srgbClr val="DC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A56"/>
                </a:solidFill>
                <a:latin typeface="Calibri"/>
              </a:rPr>
              <a:t>WHY THIS SHAPE EXISTS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252"/>
                </a:solidFill>
                <a:latin typeface="Calibri"/>
              </a:rPr>
              <a:t>Popup cannot read a tab. Service worker cannot host long WASM. Only the content script can keep a vault next to the live DOM.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252"/>
                </a:solidFill>
                <a:latin typeface="Calibri"/>
              </a:rPr>
              <a:t>Models are used only where checksums and DOM facts are not enough: names, faces, painted text.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252"/>
                </a:solidFill>
                <a:latin typeface="Calibri"/>
              </a:rPr>
              <a:t>The remote model proposes intent. Deterministic code owns authority, ids, and secret expansion.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seract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5100"/>
            <a:ext cx="444500" cy="444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177800"/>
            <a:ext cx="2667000" cy="228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A56"/>
                </a:solidFill>
                <a:latin typeface="Calibri"/>
              </a:rPr>
              <a:t>TESSERACT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93700"/>
            <a:ext cx="3302000" cy="177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18825"/>
                </a:solidFill>
                <a:latin typeface="Calibri"/>
              </a:rPr>
              <a:t>LOCAL PRIVACY.  REMOTE REASONING.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02000" y="203200"/>
            <a:ext cx="5588000" cy="304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616"/>
                </a:solidFill>
                <a:latin typeface="Calibri"/>
              </a:rPr>
              <a:t>Feasibility &amp; Viability</a:t>
            </a:r>
          </a:p>
        </p:txBody>
      </p:sp>
      <p:pic>
        <p:nvPicPr>
          <p:cNvPr id="6" name="Picture 5" descr="sih-icon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3800" y="101600"/>
            <a:ext cx="457200" cy="55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66400" y="101600"/>
            <a:ext cx="1460500" cy="558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A56"/>
                </a:solidFill>
                <a:latin typeface="Calibri"/>
              </a:rPr>
              <a:t>SMART INDIA
HACKATHON
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711200"/>
            <a:ext cx="11582400" cy="12700"/>
          </a:xfrm>
          <a:prstGeom prst="rect">
            <a:avLst/>
          </a:prstGeom>
          <a:solidFill>
            <a:srgbClr val="DC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4800" y="838200"/>
            <a:ext cx="5638800" cy="2794000"/>
          </a:xfrm>
          <a:prstGeom prst="roundRect">
            <a:avLst>
              <a:gd name="adj" fmla="val 6000"/>
            </a:avLst>
          </a:prstGeom>
          <a:solidFill>
            <a:srgbClr val="EC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A56"/>
                </a:solidFill>
                <a:latin typeface="Calibri"/>
              </a:rPr>
              <a:t>1. Analysing the feasibility of the idea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1616"/>
                </a:solidFill>
                <a:latin typeface="Calibri"/>
              </a:rPr>
              <a:t>• Easy to implement: Chrome MV3, WASM and ONNX Runtime Web — no native app, no new hardware.
• Lightweight: YuNet is ~232 KB and packaged locally; DistilBERT q8 loads once and is cached.
• Measured: 16-page rule corpus, 100% precision, 90.2% F1. Safety, server and E2E suites are separate.
• Demo-ready: mock planner runs fully offline; cloud LLM is a config switch, not an architecture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400" y="838200"/>
            <a:ext cx="5638800" cy="2794000"/>
          </a:xfrm>
          <a:prstGeom prst="roundRect">
            <a:avLst>
              <a:gd name="adj" fmla="val 6000"/>
            </a:avLst>
          </a:prstGeom>
          <a:solidFill>
            <a:srgbClr val="E2F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A56"/>
                </a:solidFill>
                <a:latin typeface="Calibri"/>
              </a:rPr>
              <a:t>Potential Challenges &amp; Risks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1616"/>
                </a:solidFill>
                <a:latin typeface="Calibri"/>
              </a:rPr>
              <a:t>• Indic names in prose: English DistilBERT recall does not cover Devanagari person names.
• No labelled pixel corpus yet: YuNet/OCR run in E2E tests, but face IoU / over-redaction are not scored.
• Hybrid-mode gap: local vision can run without those detections reaching the planner.
• Detection defines coverage: novel IDs and some bank-account shapes can still slip through.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4800" y="3810000"/>
            <a:ext cx="5638800" cy="2794000"/>
          </a:xfrm>
          <a:prstGeom prst="roundRect">
            <a:avLst>
              <a:gd name="adj" fmla="val 6000"/>
            </a:avLst>
          </a:prstGeom>
          <a:solidFill>
            <a:srgbClr val="C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A56"/>
                </a:solidFill>
                <a:latin typeface="Calibri"/>
              </a:rPr>
              <a:t>2. Strategies for overcoming these challenges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1616"/>
                </a:solidFill>
                <a:latin typeface="Calibri"/>
              </a:rPr>
              <a:t>• Strongest-first evidence: Verhoeff / Luhn / GSTIN checksums before any model confidence score.
• Lazy, offscreen inference so the service worker stays event-driven and the UI does not freeze.
• Dual gates: extension and server both reject raw fields, vault values and unknown actions.
• Separate eval families: rule F1, safety suite, server tests, and real-browser E2E — never mixed.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400" y="3810000"/>
            <a:ext cx="5638800" cy="2794000"/>
          </a:xfrm>
          <a:prstGeom prst="roundRect">
            <a:avLst>
              <a:gd name="adj" fmla="val 6000"/>
            </a:avLst>
          </a:prstGeom>
          <a:solidFill>
            <a:srgbClr val="FCE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A56"/>
                </a:solidFill>
                <a:latin typeface="Calibri"/>
              </a:rPr>
              <a:t>Evaluation of Long-Term Sustainability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1616"/>
                </a:solidFill>
                <a:latin typeface="Calibri"/>
              </a:rPr>
              <a:t>• Scalable: a Chrome/Edge extension can move from one machine → campus → department → nationwide.
• Policy fit: local minimisation matches DPDP 2023 and the ISRO brief to send only non-sensitive structure.
• Improving data: more pages and a labelled pixel set raise recall without enlarging the trust boundary.
• Adaptable: swap the planner (mock, Ollama, OpenRouter) without touching redaction or the vault.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seract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5100"/>
            <a:ext cx="444500" cy="444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177800"/>
            <a:ext cx="2667000" cy="228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A56"/>
                </a:solidFill>
                <a:latin typeface="Calibri"/>
              </a:rPr>
              <a:t>TESSERACT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93700"/>
            <a:ext cx="3302000" cy="177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18825"/>
                </a:solidFill>
                <a:latin typeface="Calibri"/>
              </a:rPr>
              <a:t>LOCAL PRIVACY.  REMOTE REASONING.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02000" y="203200"/>
            <a:ext cx="5588000" cy="304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616"/>
                </a:solidFill>
                <a:latin typeface="Calibri"/>
              </a:rPr>
              <a:t>Impacts and Benefits</a:t>
            </a:r>
          </a:p>
        </p:txBody>
      </p:sp>
      <p:pic>
        <p:nvPicPr>
          <p:cNvPr id="6" name="Picture 5" descr="sih-icon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3800" y="101600"/>
            <a:ext cx="457200" cy="55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66400" y="101600"/>
            <a:ext cx="1460500" cy="558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A56"/>
                </a:solidFill>
                <a:latin typeface="Calibri"/>
              </a:rPr>
              <a:t>SMART INDIA
HACKATHON
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711200"/>
            <a:ext cx="11582400" cy="12700"/>
          </a:xfrm>
          <a:prstGeom prst="rect">
            <a:avLst/>
          </a:prstGeom>
          <a:solidFill>
            <a:srgbClr val="DC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800" y="787400"/>
            <a:ext cx="4445000" cy="203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A56"/>
                </a:solidFill>
                <a:latin typeface="Calibri"/>
              </a:rPr>
              <a:t>Impact Created on Society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000" y="1549400"/>
            <a:ext cx="1651000" cy="228600"/>
          </a:xfrm>
          <a:prstGeom prst="roundRect">
            <a:avLst>
              <a:gd name="adj" fmla="val 40000"/>
            </a:avLst>
          </a:prstGeom>
          <a:solidFill>
            <a:srgbClr val="FF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1C1C"/>
                </a:solidFill>
                <a:latin typeface="Calibri"/>
              </a:rPr>
              <a:t>Our Social Impact</a:t>
            </a:r>
          </a:p>
        </p:txBody>
      </p:sp>
      <p:sp>
        <p:nvSpPr>
          <p:cNvPr id="11" name="Oval 10"/>
          <p:cNvSpPr/>
          <p:nvPr/>
        </p:nvSpPr>
        <p:spPr>
          <a:xfrm>
            <a:off x="508000" y="1778000"/>
            <a:ext cx="1905000" cy="1905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78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616"/>
                </a:solidFill>
                <a:latin typeface="Calibri"/>
              </a:rPr>
              <a:t>Citizens can use agents on DigiLocker, banks and government portals without handing over Aadhaar, PAN or passwords.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7500" y="1549400"/>
            <a:ext cx="1651000" cy="228600"/>
          </a:xfrm>
          <a:prstGeom prst="roundRect">
            <a:avLst>
              <a:gd name="adj" fmla="val 40000"/>
            </a:avLst>
          </a:prstGeom>
          <a:solidFill>
            <a:srgbClr val="FF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1C1C"/>
                </a:solidFill>
                <a:latin typeface="Calibri"/>
              </a:rPr>
              <a:t>Digital Transformation</a:t>
            </a:r>
          </a:p>
        </p:txBody>
      </p:sp>
      <p:sp>
        <p:nvSpPr>
          <p:cNvPr id="13" name="Oval 12"/>
          <p:cNvSpPr/>
          <p:nvPr/>
        </p:nvSpPr>
        <p:spPr>
          <a:xfrm>
            <a:off x="2730500" y="1778000"/>
            <a:ext cx="1905000" cy="1905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78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616"/>
                </a:solidFill>
                <a:latin typeface="Calibri"/>
              </a:rPr>
              <a:t>Turns the agentic web from “upload the screen” into a privacy proxy: local evidence, remote reasoning, local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000" y="4089400"/>
            <a:ext cx="1651000" cy="228600"/>
          </a:xfrm>
          <a:prstGeom prst="roundRect">
            <a:avLst>
              <a:gd name="adj" fmla="val 40000"/>
            </a:avLst>
          </a:prstGeom>
          <a:solidFill>
            <a:srgbClr val="FF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1C1C"/>
                </a:solidFill>
                <a:latin typeface="Calibri"/>
              </a:rPr>
              <a:t>Environmental Impact</a:t>
            </a:r>
          </a:p>
        </p:txBody>
      </p:sp>
      <p:sp>
        <p:nvSpPr>
          <p:cNvPr id="15" name="Oval 14"/>
          <p:cNvSpPr/>
          <p:nvPr/>
        </p:nvSpPr>
        <p:spPr>
          <a:xfrm>
            <a:off x="508000" y="4318000"/>
            <a:ext cx="1905000" cy="1905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78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616"/>
                </a:solidFill>
                <a:latin typeface="Calibri"/>
              </a:rPr>
              <a:t>On-device WASM inference and a 232 KB face model avoid shipping every screenshot to a GPU cluster.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7500" y="4089400"/>
            <a:ext cx="1651000" cy="228600"/>
          </a:xfrm>
          <a:prstGeom prst="roundRect">
            <a:avLst>
              <a:gd name="adj" fmla="val 40000"/>
            </a:avLst>
          </a:prstGeom>
          <a:solidFill>
            <a:srgbClr val="FF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1C1C"/>
                </a:solidFill>
                <a:latin typeface="Calibri"/>
              </a:rPr>
              <a:t>Government Impact</a:t>
            </a:r>
          </a:p>
        </p:txBody>
      </p:sp>
      <p:sp>
        <p:nvSpPr>
          <p:cNvPr id="17" name="Oval 16"/>
          <p:cNvSpPr/>
          <p:nvPr/>
        </p:nvSpPr>
        <p:spPr>
          <a:xfrm>
            <a:off x="2730500" y="4318000"/>
            <a:ext cx="1905000" cy="1905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78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616"/>
                </a:solidFill>
                <a:latin typeface="Calibri"/>
              </a:rPr>
              <a:t>Fits ISRO’s brief: only non-sensitive structure leaves the client. Path from one workstation → organisation → national scale.</a:t>
            </a:r>
          </a:p>
        </p:txBody>
      </p:sp>
      <p:pic>
        <p:nvPicPr>
          <p:cNvPr id="18" name="Picture 17" descr="citizen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730500"/>
            <a:ext cx="1778000" cy="17780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080000" y="1016000"/>
            <a:ext cx="2159000" cy="749300"/>
          </a:xfrm>
          <a:prstGeom prst="roundRect">
            <a:avLst>
              <a:gd name="adj" fmla="val 12000"/>
            </a:avLst>
          </a:prstGeom>
          <a:solidFill>
            <a:srgbClr val="D2F0FC"/>
          </a:solidFill>
          <a:ln w="19050">
            <a:solidFill>
              <a:srgbClr val="102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56"/>
                </a:solidFill>
                <a:latin typeface="Calibri"/>
              </a:rPr>
              <a:t>No raw PII to the cloud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Calibri"/>
              </a:rPr>
              <a:t>Redacted DOM + masked JPEG only.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6000" y="1016000"/>
            <a:ext cx="2159000" cy="749300"/>
          </a:xfrm>
          <a:prstGeom prst="roundRect">
            <a:avLst>
              <a:gd name="adj" fmla="val 12000"/>
            </a:avLst>
          </a:prstGeom>
          <a:solidFill>
            <a:srgbClr val="D2F0FC"/>
          </a:solidFill>
          <a:ln w="19050">
            <a:solidFill>
              <a:srgbClr val="102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56"/>
                </a:solidFill>
                <a:latin typeface="Calibri"/>
              </a:rPr>
              <a:t>Saves user trust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Calibri"/>
              </a:rPr>
              <a:t>Secrets stay in the tab-local vault.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52000" y="1016000"/>
            <a:ext cx="2159000" cy="749300"/>
          </a:xfrm>
          <a:prstGeom prst="roundRect">
            <a:avLst>
              <a:gd name="adj" fmla="val 12000"/>
            </a:avLst>
          </a:prstGeom>
          <a:solidFill>
            <a:srgbClr val="D2F0FC"/>
          </a:solidFill>
          <a:ln w="19050">
            <a:solidFill>
              <a:srgbClr val="102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56"/>
                </a:solidFill>
                <a:latin typeface="Calibri"/>
              </a:rPr>
              <a:t>Indian ID intelligence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Calibri"/>
              </a:rPr>
              <a:t>Verhoeff, Luhn, GSTIN, PAN, IFSC.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80000" y="5461000"/>
            <a:ext cx="2159000" cy="749300"/>
          </a:xfrm>
          <a:prstGeom prst="roundRect">
            <a:avLst>
              <a:gd name="adj" fmla="val 12000"/>
            </a:avLst>
          </a:prstGeom>
          <a:solidFill>
            <a:srgbClr val="D2F0FC"/>
          </a:solidFill>
          <a:ln w="19050">
            <a:solidFill>
              <a:srgbClr val="102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56"/>
                </a:solidFill>
                <a:latin typeface="Calibri"/>
              </a:rPr>
              <a:t>Faces blacked out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Calibri"/>
              </a:rPr>
              <a:t>YuNet boxes become padded masks.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6000" y="5461000"/>
            <a:ext cx="2159000" cy="749300"/>
          </a:xfrm>
          <a:prstGeom prst="roundRect">
            <a:avLst>
              <a:gd name="adj" fmla="val 12000"/>
            </a:avLst>
          </a:prstGeom>
          <a:solidFill>
            <a:srgbClr val="D2F0FC"/>
          </a:solidFill>
          <a:ln w="19050">
            <a:solidFill>
              <a:srgbClr val="102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56"/>
                </a:solidFill>
                <a:latin typeface="Calibri"/>
              </a:rPr>
              <a:t>Safe agency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Calibri"/>
              </a:rPr>
              <a:t>Closed vocabulary, confirmations, 6-turn cap.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52000" y="5461000"/>
            <a:ext cx="2159000" cy="749300"/>
          </a:xfrm>
          <a:prstGeom prst="roundRect">
            <a:avLst>
              <a:gd name="adj" fmla="val 12000"/>
            </a:avLst>
          </a:prstGeom>
          <a:solidFill>
            <a:srgbClr val="D2F0FC"/>
          </a:solidFill>
          <a:ln w="19050">
            <a:solidFill>
              <a:srgbClr val="102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56"/>
                </a:solidFill>
                <a:latin typeface="Calibri"/>
              </a:rPr>
              <a:t>Scalable extension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Calibri"/>
              </a:rPr>
              <a:t>Chrome/Edge today; same privacy contract later.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seract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5100"/>
            <a:ext cx="444500" cy="444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177800"/>
            <a:ext cx="2667000" cy="228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A56"/>
                </a:solidFill>
                <a:latin typeface="Calibri"/>
              </a:rPr>
              <a:t>TESSERACT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93700"/>
            <a:ext cx="3302000" cy="177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18825"/>
                </a:solidFill>
                <a:latin typeface="Calibri"/>
              </a:rPr>
              <a:t>LOCAL PRIVACY.  REMOTE REASONING.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02000" y="203200"/>
            <a:ext cx="5588000" cy="304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616"/>
                </a:solidFill>
                <a:latin typeface="Calibri"/>
              </a:rPr>
              <a:t>Research &amp; References</a:t>
            </a:r>
          </a:p>
        </p:txBody>
      </p:sp>
      <p:pic>
        <p:nvPicPr>
          <p:cNvPr id="6" name="Picture 5" descr="sih-icon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3800" y="101600"/>
            <a:ext cx="457200" cy="55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66400" y="101600"/>
            <a:ext cx="1460500" cy="558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A56"/>
                </a:solidFill>
                <a:latin typeface="Calibri"/>
              </a:rPr>
              <a:t>SMART INDIA
HACKATHON
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711200"/>
            <a:ext cx="11582400" cy="12700"/>
          </a:xfrm>
          <a:prstGeom prst="rect">
            <a:avLst/>
          </a:prstGeom>
          <a:solidFill>
            <a:srgbClr val="DC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1800" y="1854200"/>
            <a:ext cx="990599" cy="99059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2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A56"/>
                </a:solidFill>
                <a:latin typeface="Calibri"/>
              </a:rPr>
              <a:t>Research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87500" y="1079500"/>
            <a:ext cx="1397000" cy="355600"/>
          </a:xfrm>
          <a:prstGeom prst="roundRect">
            <a:avLst>
              <a:gd name="adj" fmla="val 40000"/>
            </a:avLst>
          </a:prstGeom>
          <a:solidFill>
            <a:srgbClr val="10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CHOOSING PROBLEM STATEMENT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84500" y="1968500"/>
            <a:ext cx="1397000" cy="355600"/>
          </a:xfrm>
          <a:prstGeom prst="roundRect">
            <a:avLst>
              <a:gd name="adj" fmla="val 40000"/>
            </a:avLst>
          </a:prstGeom>
          <a:solidFill>
            <a:srgbClr val="10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ANALYSIS OF EXISTING 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87500" y="2857500"/>
            <a:ext cx="1397000" cy="355600"/>
          </a:xfrm>
          <a:prstGeom prst="roundRect">
            <a:avLst>
              <a:gd name="adj" fmla="val 40000"/>
            </a:avLst>
          </a:prstGeom>
          <a:solidFill>
            <a:srgbClr val="10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DESIGN LAYERED PRIVACY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4000" y="1968500"/>
            <a:ext cx="1397000" cy="355600"/>
          </a:xfrm>
          <a:prstGeom prst="roundRect">
            <a:avLst>
              <a:gd name="adj" fmla="val 40000"/>
            </a:avLst>
          </a:prstGeom>
          <a:solidFill>
            <a:srgbClr val="10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EVAL, SAFETY GATES, DEMO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4000" y="3429000"/>
            <a:ext cx="4318000" cy="3175000"/>
          </a:xfrm>
          <a:prstGeom prst="roundRect">
            <a:avLst>
              <a:gd name="adj" fmla="val 6000"/>
            </a:avLst>
          </a:prstGeom>
          <a:solidFill>
            <a:srgbClr val="10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10972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18825"/>
                </a:solidFill>
                <a:latin typeface="Calibri"/>
              </a:rPr>
              <a:t>SIH26171  |  ISRO  |  DPDP 2023  |  MV3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1. SIH 2026 PS SIH26171 — On-device Visual Perception for Light-weight Browser Agents (ISRO / Department of Space).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2. ONNX Runtime Web + OpenCV YuNet 2023mar — compact on-device face detection.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3. Hugging Face Transformers.js / DistilBERT NER (q8) — English names after rule redaction.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4. Tesseract.js — selective OCR for image, canvas and video text.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5. Digital Personal Data Protection Act, 2023 — purpose limitation and minimisation.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6. Chrome Manifest V3 + Offscreen Documents — event-driven privacy architecture.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7. UIDAI Verhoeff checksum, Luhn (cards), GSTIN mod-36 — exact Indian identifier tests.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8. Minim / MaskClaw (2026) — edge-side sanitization for GUI agents before cloud reasoning.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9000" y="787400"/>
            <a:ext cx="7239000" cy="203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A56"/>
                </a:solidFill>
                <a:latin typeface="Calibri"/>
              </a:rPr>
              <a:t>COMPARISON WITH EXISTING APPROACHES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699000" y="1066800"/>
          <a:ext cx="7114032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188720"/>
                <a:gridCol w="1188720"/>
                <a:gridCol w="1234440"/>
                <a:gridCol w="1170432"/>
              </a:tblGrid>
              <a:tr h="508000">
                <a:tc>
                  <a:txBody>
                    <a:bodyPr wrap="square" lIns="54864" rIns="54864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 anchor="ctr">
                    <a:solidFill>
                      <a:srgbClr val="102A56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Cloud GUI agents</a:t>
                      </a:r>
                    </a:p>
                  </a:txBody>
                  <a:tcPr anchor="ctr">
                    <a:solidFill>
                      <a:srgbClr val="1E6E36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Browser copilots</a:t>
                      </a:r>
                    </a:p>
                  </a:txBody>
                  <a:tcPr anchor="ctr">
                    <a:solidFill>
                      <a:srgbClr val="5C3A8C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Password managers</a:t>
                      </a:r>
                    </a:p>
                  </a:txBody>
                  <a:tcPr anchor="ctr">
                    <a:solidFill>
                      <a:srgbClr val="D66E14"/>
                    </a:solidFill>
                  </a:tcPr>
                </a:tc>
                <a:tc>
                  <a:txBody>
                    <a:bodyPr wrap="square" lIns="54864" rIns="54864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TESSERACT</a:t>
                      </a:r>
                    </a:p>
                  </a:txBody>
                  <a:tcPr anchor="ctr">
                    <a:solidFill>
                      <a:srgbClr val="0A1C3A"/>
                    </a:solidFill>
                  </a:tcPr>
                </a:tc>
              </a:tr>
              <a:tr h="508000">
                <a:tc>
                  <a:txBody>
                    <a:bodyPr wrap="square" lIns="54864" rIns="54864"/>
                    <a:lstStyle/>
                    <a:p>
                      <a:pPr algn="l"/>
                      <a:r>
                        <a:rPr sz="1100" b="1" i="0">
                          <a:solidFill>
                            <a:srgbClr val="161616"/>
                          </a:solidFill>
                          <a:latin typeface="Calibri"/>
                        </a:rPr>
                        <a:t>On-device visual perception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7803F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</a:tr>
              <a:tr h="508000">
                <a:tc>
                  <a:txBody>
                    <a:bodyPr wrap="square" lIns="54864" rIns="54864"/>
                    <a:lstStyle/>
                    <a:p>
                      <a:pPr algn="l"/>
                      <a:r>
                        <a:rPr sz="1100" b="1" i="0">
                          <a:solidFill>
                            <a:srgbClr val="161616"/>
                          </a:solidFill>
                          <a:latin typeface="Calibri"/>
                        </a:rPr>
                        <a:t>Redact before any network 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7803F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54864" rIns="54864"/>
                    <a:lstStyle/>
                    <a:p>
                      <a:pPr algn="l"/>
                      <a:r>
                        <a:rPr sz="1100" b="1" i="0">
                          <a:solidFill>
                            <a:srgbClr val="161616"/>
                          </a:solidFill>
                          <a:latin typeface="Calibri"/>
                        </a:rPr>
                        <a:t>Indian ID checksums (Aadhaar/PAN/GSTIN)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7803F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</a:tr>
              <a:tr h="508000">
                <a:tc>
                  <a:txBody>
                    <a:bodyPr wrap="square" lIns="54864" rIns="54864"/>
                    <a:lstStyle/>
                    <a:p>
                      <a:pPr algn="l"/>
                      <a:r>
                        <a:rPr sz="1100" b="1" i="0">
                          <a:solidFill>
                            <a:srgbClr val="161616"/>
                          </a:solidFill>
                          <a:latin typeface="Calibri"/>
                        </a:rPr>
                        <a:t>Face &amp; screenshot masking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7803F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54864" rIns="54864"/>
                    <a:lstStyle/>
                    <a:p>
                      <a:pPr algn="l"/>
                      <a:r>
                        <a:rPr sz="1100" b="1" i="0">
                          <a:solidFill>
                            <a:srgbClr val="161616"/>
                          </a:solidFill>
                          <a:latin typeface="Calibri"/>
                        </a:rPr>
                        <a:t>Typed placeholders for the planner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7803F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</a:tr>
              <a:tr h="508000">
                <a:tc>
                  <a:txBody>
                    <a:bodyPr wrap="square" lIns="54864" rIns="54864"/>
                    <a:lstStyle/>
                    <a:p>
                      <a:pPr algn="l"/>
                      <a:r>
                        <a:rPr sz="1100" b="1" i="0">
                          <a:solidFill>
                            <a:srgbClr val="161616"/>
                          </a:solidFill>
                          <a:latin typeface="Calibri"/>
                        </a:rPr>
                        <a:t>Closed action vocabulary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7803F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54864" rIns="54864"/>
                    <a:lstStyle/>
                    <a:p>
                      <a:pPr algn="l"/>
                      <a:r>
                        <a:rPr sz="1100" b="1" i="0">
                          <a:solidFill>
                            <a:srgbClr val="161616"/>
                          </a:solidFill>
                          <a:latin typeface="Calibri"/>
                        </a:rPr>
                        <a:t>Tab-local secret vault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7803F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7803F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</a:tr>
              <a:tr h="508000">
                <a:tc>
                  <a:txBody>
                    <a:bodyPr wrap="square" lIns="54864" rIns="54864"/>
                    <a:lstStyle/>
                    <a:p>
                      <a:pPr algn="l"/>
                      <a:r>
                        <a:rPr sz="1100" b="1" i="0">
                          <a:solidFill>
                            <a:srgbClr val="161616"/>
                          </a:solidFill>
                          <a:latin typeface="Calibri"/>
                        </a:rPr>
                        <a:t>Offline mock + optional cloud LLM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7803F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54864" rIns="54864"/>
                    <a:lstStyle/>
                    <a:p>
                      <a:pPr algn="l"/>
                      <a:r>
                        <a:rPr sz="1100" b="1" i="0">
                          <a:solidFill>
                            <a:srgbClr val="161616"/>
                          </a:solidFill>
                          <a:latin typeface="Calibri"/>
                        </a:rPr>
                        <a:t>Working Chrome MV3 prototype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B02A2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7803F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7803F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7803F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699000" y="6350000"/>
            <a:ext cx="7175500" cy="2540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Calibri"/>
              </a:rPr>
              <a:t>Tesseract is the only column that combines on-device perception, Indian identifier intelligence, and a constrained agent.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